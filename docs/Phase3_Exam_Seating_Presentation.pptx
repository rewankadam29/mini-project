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144622bc9647a8" /><Relationship Type="http://schemas.openxmlformats.org/officeDocument/2006/relationships/extended-properties" Target="/docProps/app.xml" Id="R169b858c31924ed3" /><Relationship Type="http://schemas.openxmlformats.org/officeDocument/2006/relationships/officeDocument" Target="/ppt/presentation.xml" Id="R6c0d7fe2483d4b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52d5b5fda74b34"/>
  </p:sldMasterIdLst>
  <p:notesMasterIdLst>
    <p:notesMasterId xmlns:r="http://schemas.openxmlformats.org/officeDocument/2006/relationships" r:id="Rd199320d0bea4fef"/>
  </p:notesMasterIdLst>
  <p:sldIdLst>
    <p:sldId xmlns:r="http://schemas.openxmlformats.org/officeDocument/2006/relationships" id="256" r:id="Raeeab4aca95542ce"/>
    <p:sldId xmlns:r="http://schemas.openxmlformats.org/officeDocument/2006/relationships" id="257" r:id="R2758fafd6cea4eae"/>
    <p:sldId xmlns:r="http://schemas.openxmlformats.org/officeDocument/2006/relationships" id="258" r:id="R6a2c9bb492f0451d"/>
    <p:sldId xmlns:r="http://schemas.openxmlformats.org/officeDocument/2006/relationships" id="259" r:id="Rbe5a90acef2a41b3"/>
    <p:sldId xmlns:r="http://schemas.openxmlformats.org/officeDocument/2006/relationships" id="260" r:id="Rd24c5c18733c4fd4"/>
    <p:sldId xmlns:r="http://schemas.openxmlformats.org/officeDocument/2006/relationships" id="261" r:id="R7039e9635ad54003"/>
    <p:sldId xmlns:r="http://schemas.openxmlformats.org/officeDocument/2006/relationships" id="262" r:id="R35c4dc36e16f49fb"/>
    <p:sldId xmlns:r="http://schemas.openxmlformats.org/officeDocument/2006/relationships" id="263" r:id="R3bb9d0df962a4337"/>
    <p:sldId xmlns:r="http://schemas.openxmlformats.org/officeDocument/2006/relationships" id="264" r:id="Re13145c61f794e96"/>
    <p:sldId xmlns:r="http://schemas.openxmlformats.org/officeDocument/2006/relationships" id="265" r:id="Rc1d88b88fbbb40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26feaf622943e3" /><Relationship Type="http://schemas.openxmlformats.org/officeDocument/2006/relationships/slideMaster" Target="/ppt/slideMasters/slideMaster1.xml" Id="Rda52d5b5fda74b34" /><Relationship Type="http://schemas.openxmlformats.org/officeDocument/2006/relationships/notesMaster" Target="/ppt/notesMasters/notesMaster1.xml" Id="Rd199320d0bea4fef" /><Relationship Type="http://schemas.openxmlformats.org/officeDocument/2006/relationships/presProps" Target="/ppt/presProps.xml" Id="R10097442b42b4e2a" /><Relationship Type="http://schemas.openxmlformats.org/officeDocument/2006/relationships/tableStyles" Target="/ppt/tableStyles.xml" Id="Rec6b8e3ef96f4faf" /><Relationship Type="http://schemas.openxmlformats.org/officeDocument/2006/relationships/slide" Target="/ppt/slides/slide1.xml" Id="Raeeab4aca95542ce" /><Relationship Type="http://schemas.openxmlformats.org/officeDocument/2006/relationships/slide" Target="/ppt/slides/slide2.xml" Id="R2758fafd6cea4eae" /><Relationship Type="http://schemas.openxmlformats.org/officeDocument/2006/relationships/slide" Target="/ppt/slides/slide3.xml" Id="R6a2c9bb492f0451d" /><Relationship Type="http://schemas.openxmlformats.org/officeDocument/2006/relationships/slide" Target="/ppt/slides/slide4.xml" Id="Rbe5a90acef2a41b3" /><Relationship Type="http://schemas.openxmlformats.org/officeDocument/2006/relationships/slide" Target="/ppt/slides/slide5.xml" Id="Rd24c5c18733c4fd4" /><Relationship Type="http://schemas.openxmlformats.org/officeDocument/2006/relationships/slide" Target="/ppt/slides/slide6.xml" Id="R7039e9635ad54003" /><Relationship Type="http://schemas.openxmlformats.org/officeDocument/2006/relationships/slide" Target="/ppt/slides/slide7.xml" Id="R35c4dc36e16f49fb" /><Relationship Type="http://schemas.openxmlformats.org/officeDocument/2006/relationships/slide" Target="/ppt/slides/slide8.xml" Id="R3bb9d0df962a4337" /><Relationship Type="http://schemas.openxmlformats.org/officeDocument/2006/relationships/slide" Target="/ppt/slides/slide9.xml" Id="Re13145c61f794e96" /><Relationship Type="http://schemas.openxmlformats.org/officeDocument/2006/relationships/slide" Target="/ppt/slides/slide10.xml" Id="Rc1d88b88fbbb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cdf8885e864f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02b55f0a24955" /><Relationship Type="http://schemas.openxmlformats.org/officeDocument/2006/relationships/notesMaster" Target="/ppt/notesMasters/notesMaster1.xml" Id="R3643fd54890a4b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ebd2c1d5c84a52" /><Relationship Type="http://schemas.openxmlformats.org/officeDocument/2006/relationships/notesMaster" Target="/ppt/notesMasters/notesMaster1.xml" Id="Ra35443d5e29348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8628bdfef04ebc" /><Relationship Type="http://schemas.openxmlformats.org/officeDocument/2006/relationships/notesMaster" Target="/ppt/notesMasters/notesMaster1.xml" Id="R7cfff060662848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7562e866574c56" /><Relationship Type="http://schemas.openxmlformats.org/officeDocument/2006/relationships/notesMaster" Target="/ppt/notesMasters/notesMaster1.xml" Id="R7e23fe08f24648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4738df74a7498f" /><Relationship Type="http://schemas.openxmlformats.org/officeDocument/2006/relationships/notesMaster" Target="/ppt/notesMasters/notesMaster1.xml" Id="R13b22cb417a241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cdef5e5b18427b" /><Relationship Type="http://schemas.openxmlformats.org/officeDocument/2006/relationships/notesMaster" Target="/ppt/notesMasters/notesMaster1.xml" Id="Redbe5a3a159348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c8d22d01b84cf1" /><Relationship Type="http://schemas.openxmlformats.org/officeDocument/2006/relationships/notesMaster" Target="/ppt/notesMasters/notesMaster1.xml" Id="R8d55e1c774114c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cd6735fffe499b" /><Relationship Type="http://schemas.openxmlformats.org/officeDocument/2006/relationships/notesMaster" Target="/ppt/notesMasters/notesMaster1.xml" Id="R1d2a52b420a943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2a366fdb7f4c62" /><Relationship Type="http://schemas.openxmlformats.org/officeDocument/2006/relationships/notesMaster" Target="/ppt/notesMasters/notesMaster1.xml" Id="R87874d37d38043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f1e68584024cf5" /><Relationship Type="http://schemas.openxmlformats.org/officeDocument/2006/relationships/notesMaster" Target="/ppt/notesMasters/notesMaster1.xml" Id="R7965862943c645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Phase 2 PPTX, slides 1 and 23–27. Phase 3 criteria: supplied Phase3 marksheet. Team names and guide come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3. Mini Project_Phase3_Marksheet_2026_27.docx. P1=10, P2=5, P3=5, P4=5. GitHub hosting is still a user setup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map corresponds to the delivered source. Team ownership must reflect actual work and is not assigned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Phase 2 PPTX, slides 23 and 24. Implementation preserves the defined adjacency rules. “Shuffled” does not mean random roll-number ordering.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counts-aware candidate ordering and bounded backtracking, not a guaranteed polynomial algorithm. State or time exhaustion is reported separately from infeasibility.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executing both modes on public/js/demo-data.js. 80 synthetic students from four divisions. Three selected rooms, each 5×6, provide 90 seats. Both return a complete valid plan. No live MySQL test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actual output from the included allocator with all four divisions and rooms 101–103. Roll numbers identify students within each division. This is a native editable seating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delivered backend/repository.js and database/schema.sql. seating_plan is an explicit extension of the Phase 2 four-table design to retain generation metadata. There is no EXAM table. MySQL live execution remains a local verification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branches and commits are actual preparation-session evidence, authored as Codex. Do not present them as earlier team history. GitHub remote setup and push require the user’s repository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docs/TEST_RESULTS.txt records 20 passing automated tests. Allocator agrees with an independent exhaustive oracle on a 2×3 grid. Browser rendering, Express install and live MySQL integration require the user’s local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0613d05a144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7b6d0a7af48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8e01f95ec4d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a96cb2e4746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9fe2837944e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be59b18074c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5B197F-1492-4C27-BC8C-EB087819E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482B8A-E3F8-4AD6-B179-E89F3E3DFE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1F0058-FA46-4C36-9298-D13003F06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F1F5B0-12D0-4E55-8147-650A63805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44511A-2AC6-4EFB-8935-8EC4CE1FCB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C9CC24-6083-4FDC-AA84-2FBC17888A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A74C34-F3F7-4B16-8269-55E311991C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3AC7EF2-682D-4CC7-B19E-D97D09F9A3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77DE39-1C41-479F-9607-3FD4724AA1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A30EFC-D72C-4F83-99B5-CE3D2BACC7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a4b63fe2764c67" /><Relationship Type="http://schemas.openxmlformats.org/officeDocument/2006/relationships/slideLayout" Target="/ppt/slideLayouts/slideLayout1.xml" Id="R75a1291c5e3b4d4a" /><Relationship Type="http://schemas.openxmlformats.org/officeDocument/2006/relationships/slideLayout" Target="/ppt/slideLayouts/slideLayout2.xml" Id="R1486732dec1549e2" /><Relationship Type="http://schemas.openxmlformats.org/officeDocument/2006/relationships/slideLayout" Target="/ppt/slideLayouts/slideLayout3.xml" Id="Rd6ce3cd7e7d14874" /><Relationship Type="http://schemas.openxmlformats.org/officeDocument/2006/relationships/slideLayout" Target="/ppt/slideLayouts/slideLayout4.xml" Id="R49b780137f464363" /><Relationship Type="http://schemas.openxmlformats.org/officeDocument/2006/relationships/slideLayout" Target="/ppt/slideLayouts/slideLayout5.xml" Id="R3fbf658fc69f480b" /><Relationship Type="http://schemas.openxmlformats.org/officeDocument/2006/relationships/slideLayout" Target="/ppt/slideLayouts/slideLayout6.xml" Id="R478b490655fa45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a1291c5e3b4d4a"/>
    <p:sldLayoutId xmlns:r="http://schemas.openxmlformats.org/officeDocument/2006/relationships" id="2147483650" r:id="R1486732dec1549e2"/>
    <p:sldLayoutId xmlns:r="http://schemas.openxmlformats.org/officeDocument/2006/relationships" id="2147483651" r:id="Rd6ce3cd7e7d14874"/>
    <p:sldLayoutId xmlns:r="http://schemas.openxmlformats.org/officeDocument/2006/relationships" id="2147483652" r:id="R49b780137f464363"/>
    <p:sldLayoutId xmlns:r="http://schemas.openxmlformats.org/officeDocument/2006/relationships" id="2147483653" r:id="R3fbf658fc69f480b"/>
    <p:sldLayoutId xmlns:r="http://schemas.openxmlformats.org/officeDocument/2006/relationships" id="2147483654" r:id="R478b490655fa45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b7f080095443d" /><Relationship Type="http://schemas.openxmlformats.org/officeDocument/2006/relationships/notesSlide" Target="/ppt/notesSlides/notesSlide1.xml" Id="Rf28b2c40ad5448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866c4b55744a3" /><Relationship Type="http://schemas.openxmlformats.org/officeDocument/2006/relationships/notesSlide" Target="/ppt/notesSlides/notesSlide2.xml" Id="R92276c3333d049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7b33d50ba4e57" /><Relationship Type="http://schemas.openxmlformats.org/officeDocument/2006/relationships/notesSlide" Target="/ppt/notesSlides/notesSlide3.xml" Id="R20d04870df1f42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5a29239a7412b" /><Relationship Type="http://schemas.openxmlformats.org/officeDocument/2006/relationships/notesSlide" Target="/ppt/notesSlides/notesSlide4.xml" Id="Rd475ade694e147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0d3f8cf22469f" /><Relationship Type="http://schemas.openxmlformats.org/officeDocument/2006/relationships/notesSlide" Target="/ppt/notesSlides/notesSlide5.xml" Id="R48cddeb9b07a4c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ad771224c4ae0" /><Relationship Type="http://schemas.openxmlformats.org/officeDocument/2006/relationships/notesSlide" Target="/ppt/notesSlides/notesSlide6.xml" Id="R86addf60b2e94b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88b58ed2241ac" /><Relationship Type="http://schemas.openxmlformats.org/officeDocument/2006/relationships/notesSlide" Target="/ppt/notesSlides/notesSlide7.xml" Id="Ra102afe327984f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e69e9eb0541f3" /><Relationship Type="http://schemas.openxmlformats.org/officeDocument/2006/relationships/notesSlide" Target="/ppt/notesSlides/notesSlide8.xml" Id="Ra3676472ad634b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8981dcd1f47a4" /><Relationship Type="http://schemas.openxmlformats.org/officeDocument/2006/relationships/notesSlide" Target="/ppt/notesSlides/notesSlide9.xml" Id="R85bdf2a154ed49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55b5f008a4b3f" /><Relationship Type="http://schemas.openxmlformats.org/officeDocument/2006/relationships/notesSlide" Target="/ppt/notesSlides/notesSlide10.xml" Id="R33920480fa4d49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AF9B3-BE56-416D-B30D-9B401800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Exam Seating Arrangement</a:t>
            </a:r>
          </a:p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Generator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67027-E5B1-4930-BF11-C6CBFF92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B13CF-5555-40FD-9196-2631ACD9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Phase 3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5EC4E-D4B3-40AE-8228-8057A7AD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Sardar Patel Institute of Technology</a:t>
            </a:r>
          </a:p>
          <a:p xmlns:a="http://schemas.openxmlformats.org/drawingml/2006/main">
            <a:pPr>
              <a:defRPr sz="2100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Computer Engineering   Semester V   2026–27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48BB4-8486-452B-A492-A1F4E357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714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Rewan Kadam  2024300099</a:t>
            </a:r>
          </a:p>
          <a:p xmlns:a="http://schemas.openxmlformats.org/drawingml/2006/main">
            <a: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Anish Kumar Karlupia  2024300107</a:t>
            </a:r>
          </a:p>
          <a:p xmlns:a="http://schemas.openxmlformats.org/drawingml/2006/main">
            <a: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Keshav Raina  2024300188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7973D-69B7-4D4B-BD20-6B121B36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1962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Guide</a:t>
            </a:r>
          </a:p>
          <a:p xmlns:a="http://schemas.openxmlformats.org/drawingml/2006/main">
            <a: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Prof. Govind Gaundalkar</a:t>
            </a:r>
          </a:p>
        </p:txBody>
      </p:sp>
    </p:spTree>
    <p:extLst>
      <p:ext uri="{BB962C8B-B14F-4D97-AF65-F5344CB8AC3E}">
        <p14:creationId xmlns:p14="http://schemas.microsoft.com/office/powerpoint/2010/main" val="808471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7D761-D85D-4A84-A46D-9CC629DF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Phase 3 evaluation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F1D36-EA23-45FE-85D4-243A5C43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81542-B960-4111-8666-A64CF340EB7C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238250"/>
                <a:gridCol w="6191250"/>
              </a:tblGrid>
              <a:tr h="7334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Marks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to show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Module-wise coding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 modules and working demo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Repository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Local Git and team GitHub repository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Branching and commits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Feature branches and merge history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Implementation, demo and limitations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FC3A7-8E97-4A70-82BC-C72BF344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Total: 25 marks</a:t>
            </a:r>
          </a:p>
        </p:txBody>
      </p:sp>
    </p:spTree>
    <p:extLst>
      <p:ext uri="{BB962C8B-B14F-4D97-AF65-F5344CB8AC3E}">
        <p14:creationId xmlns:p14="http://schemas.microsoft.com/office/powerpoint/2010/main" val="1673239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5EC94-AE43-48C4-9E2D-BF16ED13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Implementation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D2C68-8BA0-4473-B47E-29930168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EDAEF-A3BA-44FD-8028-23C815F343F4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429000"/>
                <a:gridCol w="5191125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Frontend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public/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Inputs, grids, CSV and print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Graph allocator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js/allocator.js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Coloring, backtracking and 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 service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backend/service.js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Selection, generation and save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Storage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backend/repository.js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Memory or MySQL transaction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Verification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tests/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Allocation and API tests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703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89142-030A-456C-984F-D01315A9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Two seating strategies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85CE1-5567-491B-96AF-8D3DCD5C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70429-150A-4F7E-BA5C-11DF7C73A244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286250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Property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Fully shuffled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Column based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Vertex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usable seat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usable column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Horizontal or vertical neighbour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Neighbouring column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Color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Division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Division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 placement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student per vertex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division, top to bottom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EA812-CB69-45F8-A876-873CFDFC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Diagonal seats have no edge. Empty seats or columns can provide separation.</a:t>
            </a:r>
          </a:p>
        </p:txBody>
      </p:sp>
    </p:spTree>
    <p:extLst>
      <p:ext uri="{BB962C8B-B14F-4D97-AF65-F5344CB8AC3E}">
        <p14:creationId xmlns:p14="http://schemas.microsoft.com/office/powerpoint/2010/main" val="766857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4E696-9622-4CBB-822E-ECCD7443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Allocation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C5E9E-75CC-4889-90B4-54944540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A2516-52E4-4AEA-8FB2-BA0C9058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7E217-221E-4D90-87CA-866921D7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383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Check student IDs, room dimensions and total capacity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E839B-413D-4D7A-A5DA-83A188EC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0E15F-366C-4200-AFF0-86185C8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574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Build the selected seat or column 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DC436-C3A0-4CC3-ABFB-11FB63CC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BD7A6-E694-4458-A281-0EAC0B1B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76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Try eligible divisions with the most students remaining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2BDDE-6D27-44B7-9600-EA18C4F3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9F306-1754-4D3F-A504-7EF64ECD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956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Backtrack or leave a vertex empty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70C6B-BB71-4C5A-BB92-0FFAFBFA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6140E-C25A-4115-AF60-8F6B456D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148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Validate all students, occupied seats and adjacency edges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8118C-445B-469A-A6D8-22E2B44B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D08EE-7EA3-49B4-89B9-B96730EB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339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Save only a complete valid arrangement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F4006-62CC-4B6D-88C8-F09A13FD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Worst-case search is exponential. Limit: 600 physical seats and a bounded search budget.</a:t>
            </a:r>
          </a:p>
        </p:txBody>
      </p:sp>
    </p:spTree>
    <p:extLst>
      <p:ext uri="{BB962C8B-B14F-4D97-AF65-F5344CB8AC3E}">
        <p14:creationId xmlns:p14="http://schemas.microsoft.com/office/powerpoint/2010/main" val="33157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D096D-6C12-4705-AFC6-8B202CFC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Demonstration dataset and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7B960-E8C1-41D8-AE43-53082DA3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F7D46-468C-4DA8-8637-A536C7EF1B8B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476625"/>
                <a:gridCol w="3476625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Shuffled mode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Column mode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Students assigned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 of 80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 of 80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Selected room capacity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seats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seats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Empty seats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Adjacency conflicts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Graph size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 vertices, 147 edges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 vertices, 15 edges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7A2B5-9B96-4D34-B34D-2CBB6EF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Four divisions with 20 synthetic students each. No real student records.</a:t>
            </a:r>
          </a:p>
        </p:txBody>
      </p:sp>
    </p:spTree>
    <p:extLst>
      <p:ext uri="{BB962C8B-B14F-4D97-AF65-F5344CB8AC3E}">
        <p14:creationId xmlns:p14="http://schemas.microsoft.com/office/powerpoint/2010/main" val="1279785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7701D-FE74-4C45-B1DF-27734247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Room 101 shuffled seating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48E72-08C7-4F85-80AA-2F8B8B62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7B627-6B7C-4FDD-A25F-EDA00AF6B7CE}"/>
              </a:ext>
            </a:extLst>
          </p:cNvPr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58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647825"/>
                <a:gridCol w="1647825"/>
                <a:gridCol w="1647825"/>
                <a:gridCol w="1647825"/>
                <a:gridCol w="1657350"/>
                <a:gridCol w="1657350"/>
              </a:tblGrid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Row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1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2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3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4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5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6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1</a:t>
                      </a:r>
                    </a:p>
                  </a:txBody>
                  <a:tcPr marL="91440" marR="91440" marT="45720" marB="45720">
                    <a:solidFill>
                      <a:srgbClr val="E3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CE-B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1</a:t>
                      </a:r>
                    </a:p>
                  </a:txBody>
                  <a:tcPr marL="91440" marR="91440" marT="45720" marB="45720">
                    <a:solidFill>
                      <a:srgbClr val="FFE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EXTC-A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1</a:t>
                      </a:r>
                    </a:p>
                  </a:txBody>
                  <a:tcPr marL="91440" marR="91440" marT="45720" marB="45720">
                    <a:solidFill>
                      <a:srgbClr val="F1E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1</a:t>
                      </a:r>
                    </a:p>
                  </a:txBody>
                  <a:tcPr marL="91440" marR="91440" marT="45720" marB="45720">
                    <a:solidFill>
                      <a:srgbClr val="D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2</a:t>
                      </a:r>
                    </a:p>
                  </a:txBody>
                  <a:tcPr marL="91440" marR="91440" marT="45720" marB="45720">
                    <a:solidFill>
                      <a:srgbClr val="E3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CE-B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2</a:t>
                      </a:r>
                    </a:p>
                  </a:txBody>
                  <a:tcPr marL="91440" marR="91440" marT="45720" marB="45720">
                    <a:solidFill>
                      <a:srgbClr val="FFE8D4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EXTC-A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2</a:t>
                      </a:r>
                    </a:p>
                  </a:txBody>
                  <a:tcPr marL="91440" marR="91440" marT="45720" marB="45720">
                    <a:solidFill>
                      <a:srgbClr val="F1E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2</a:t>
                      </a:r>
                    </a:p>
                  </a:txBody>
                  <a:tcPr marL="91440" marR="91440" marT="45720" marB="45720">
                    <a:solidFill>
                      <a:srgbClr val="D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3</a:t>
                      </a:r>
                    </a:p>
                  </a:txBody>
                  <a:tcPr marL="91440" marR="91440" marT="45720" marB="45720">
                    <a:solidFill>
                      <a:srgbClr val="E3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CE-B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3</a:t>
                      </a:r>
                    </a:p>
                  </a:txBody>
                  <a:tcPr marL="91440" marR="91440" marT="45720" marB="45720">
                    <a:solidFill>
                      <a:srgbClr val="FFE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EXTC-A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3</a:t>
                      </a:r>
                    </a:p>
                  </a:txBody>
                  <a:tcPr marL="91440" marR="91440" marT="45720" marB="45720">
                    <a:solidFill>
                      <a:srgbClr val="F1E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3</a:t>
                      </a:r>
                    </a:p>
                  </a:txBody>
                  <a:tcPr marL="91440" marR="91440" marT="45720" marB="45720">
                    <a:solidFill>
                      <a:srgbClr val="DEF3E7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4</a:t>
                      </a:r>
                    </a:p>
                  </a:txBody>
                  <a:tcPr marL="91440" marR="91440" marT="45720" marB="45720">
                    <a:solidFill>
                      <a:srgbClr val="E3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CE-B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4</a:t>
                      </a:r>
                    </a:p>
                  </a:txBody>
                  <a:tcPr marL="91440" marR="91440" marT="45720" marB="45720">
                    <a:solidFill>
                      <a:srgbClr val="FFE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EXTC-A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4</a:t>
                      </a:r>
                    </a:p>
                  </a:txBody>
                  <a:tcPr marL="91440" marR="91440" marT="45720" marB="45720">
                    <a:solidFill>
                      <a:srgbClr val="F1E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4</a:t>
                      </a:r>
                    </a:p>
                  </a:txBody>
                  <a:tcPr marL="91440" marR="91440" marT="45720" marB="45720">
                    <a:solidFill>
                      <a:srgbClr val="D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5</a:t>
                      </a:r>
                    </a:p>
                  </a:txBody>
                  <a:tcPr marL="91440" marR="91440" marT="45720" marB="45720">
                    <a:solidFill>
                      <a:srgbClr val="E3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CE-B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5</a:t>
                      </a:r>
                    </a:p>
                  </a:txBody>
                  <a:tcPr marL="91440" marR="91440" marT="45720" marB="45720">
                    <a:solidFill>
                      <a:srgbClr val="FFE8D4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EXTC-A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5</a:t>
                      </a:r>
                    </a:p>
                  </a:txBody>
                  <a:tcPr marL="91440" marR="91440" marT="45720" marB="45720">
                    <a:solidFill>
                      <a:srgbClr val="F1E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5</a:t>
                      </a:r>
                    </a:p>
                  </a:txBody>
                  <a:tcPr marL="91440" marR="91440" marT="45720" marB="45720">
                    <a:solidFill>
                      <a:srgbClr val="D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6</a:t>
                      </a:r>
                    </a:p>
                  </a:txBody>
                  <a:tcPr marL="91440" marR="91440" marT="45720" marB="45720">
                    <a:solidFill>
                      <a:srgbClr val="E3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CE-B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6</a:t>
                      </a:r>
                    </a:p>
                  </a:txBody>
                  <a:tcPr marL="91440" marR="91440" marT="45720" marB="45720">
                    <a:solidFill>
                      <a:srgbClr val="FFE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EXTC-A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6</a:t>
                      </a:r>
                    </a:p>
                  </a:txBody>
                  <a:tcPr marL="91440" marR="91440" marT="45720" marB="45720">
                    <a:solidFill>
                      <a:srgbClr val="F1E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6</a:t>
                      </a:r>
                    </a:p>
                  </a:txBody>
                  <a:tcPr marL="91440" marR="91440" marT="45720" marB="45720">
                    <a:solidFill>
                      <a:srgbClr val="DEF3E7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7</a:t>
                      </a:r>
                    </a:p>
                  </a:txBody>
                  <a:tcPr marL="91440" marR="91440" marT="45720" marB="45720">
                    <a:solidFill>
                      <a:srgbClr val="E3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CE-B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7</a:t>
                      </a:r>
                    </a:p>
                  </a:txBody>
                  <a:tcPr marL="91440" marR="91440" marT="45720" marB="45720">
                    <a:solidFill>
                      <a:srgbClr val="FFE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EXTC-A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7</a:t>
                      </a:r>
                    </a:p>
                  </a:txBody>
                  <a:tcPr marL="91440" marR="91440" marT="45720" marB="45720">
                    <a:solidFill>
                      <a:srgbClr val="F1E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7</a:t>
                      </a:r>
                    </a:p>
                  </a:txBody>
                  <a:tcPr marL="91440" marR="91440" marT="45720" marB="45720">
                    <a:solidFill>
                      <a:srgbClr val="DE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CE-A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8</a:t>
                      </a:r>
                    </a:p>
                  </a:txBody>
                  <a:tcPr marL="91440" marR="91440" marT="45720" marB="45720">
                    <a:solidFill>
                      <a:srgbClr val="E3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CE-B</a:t>
                      </a:r>
                    </a:p>
                    <a:p>
                      <a:r>
                        <a:rPr sz="1725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Roll 8</a:t>
                      </a:r>
                    </a:p>
                  </a:txBody>
                  <a:tcPr marL="91440" marR="91440" marT="45720" marB="45720">
                    <a:solidFill>
                      <a:srgbClr val="FFE8D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239D7-9B16-4A90-BB0A-88D83681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Matching divisions never occupy immediate horizontal or vertical neighbours.</a:t>
            </a:r>
          </a:p>
        </p:txBody>
      </p:sp>
    </p:spTree>
    <p:extLst>
      <p:ext uri="{BB962C8B-B14F-4D97-AF65-F5344CB8AC3E}">
        <p14:creationId xmlns:p14="http://schemas.microsoft.com/office/powerpoint/2010/main" val="43868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10062-4818-487F-9004-B8BA5632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Backend and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45BC5-1305-403E-B445-73BF4410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571C1-7992-4464-BE0A-8C7B083E5497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47712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Table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Stored information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division and student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Division records and student identities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Rows, columns and usable capacity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seating_plan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Exam metadata, strategy and saved snapshot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seating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Student, room and seat mapping for each 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5DFE3-4240-402C-BC9B-F1AE0A4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A transaction saves plan metadata and all seat mappings together.</a:t>
            </a:r>
          </a:p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Unique constraints prevent repeated students or seats within a plan.</a:t>
            </a:r>
          </a:p>
        </p:txBody>
      </p:sp>
    </p:spTree>
    <p:extLst>
      <p:ext uri="{BB962C8B-B14F-4D97-AF65-F5344CB8AC3E}">
        <p14:creationId xmlns:p14="http://schemas.microsoft.com/office/powerpoint/2010/main" val="339721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31C41-1175-46A7-894B-9C4B6EB0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Git branches and commit conventions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877D1-7E31-443A-9BC9-58ADC183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3CDFA-3F30-43E6-B36D-3251C5B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24151-6030-4B3C-9ECE-838C390A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feature/frontend-results</a:t>
            </a:r>
          </a:p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feature/backend-mysql</a:t>
            </a:r>
          </a:p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feature/validation-tests</a:t>
            </a:r>
          </a:p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feature/phase3-docs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FBF62-3D9D-4153-B164-A587F6E8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85925"/>
            <a:ext cx="4429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feat: add a feature</a:t>
            </a:r>
          </a:p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fix: correct a defect</a:t>
            </a:r>
          </a:p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test: verify behavior</a:t>
            </a:r>
          </a:p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docs: explain setup</a:t>
            </a:r>
          </a:p>
          <a:p xmlns:a="http://schemas.openxmlformats.org/drawingml/2006/main">
            <a:pPr>
              <a:def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chore: project setup or merge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E6A3D-865B-408C-979D-595F042C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Feature changes merge into main with explicit merge commits.</a:t>
            </a:r>
          </a:p>
          <a:p xmlns:a="http://schemas.openxmlformats.org/drawingml/2006/main">
            <a:pPr>
              <a:defRPr sz="1950" b="0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Local Git is ready. Connect and push to the team GitHub account before evaluation.</a:t>
            </a:r>
          </a:p>
        </p:txBody>
      </p:sp>
    </p:spTree>
    <p:extLst>
      <p:ext uri="{BB962C8B-B14F-4D97-AF65-F5344CB8AC3E}">
        <p14:creationId xmlns:p14="http://schemas.microsoft.com/office/powerpoint/2010/main" val="19286788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B8521-92DB-4022-A40C-C24E14E7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53E75"/>
                </a:solidFill>
                <a:latin typeface="DejaVu Sans"/>
                <a:ea typeface="DejaVu Sans"/>
                <a:cs typeface="DejaVu Sans"/>
              </a:rPr>
              <a:t>Verified scope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58B2C-0D4A-4AE9-AE5C-A808E6AE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57286"/>
                </a:solidFill>
                <a:latin typeface="DejaVu Sans"/>
                <a:ea typeface="DejaVu Sans"/>
                <a:cs typeface="DejaVu Sans"/>
              </a:rPr>
              <a:t>Mini Project PR1   Phase 3 Implementation                         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396F5-7707-4488-B903-1FD79867A058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5722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verification</a:t>
                      </a:r>
                    </a:p>
                  </a:txBody>
                  <a:tcPr marL="91440" marR="91440" marT="45720" marB="45720">
                    <a:solidFill>
                      <a:srgbClr val="153E7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Allocator and both strategies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Automated checks pass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 backend and HTTP demo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Automated checks 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Express adapter and MySQL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Implemented, local integration check pending</a:t>
                      </a:r>
                    </a:p>
                  </a:txBody>
                  <a:tcPr marL="91440" marR="91440" marT="45720" marB="45720">
                    <a:solidFill>
                      <a:srgbClr val="F0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Browser display and printing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2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Manual check on evaluation laptop required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E7BB5-E872-4573-9EC9-87A92963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20 automated tests pass.</a:t>
            </a:r>
          </a:p>
          <a:p xmlns:a="http://schemas.openxmlformats.org/drawingml/2006/main">
            <a:pPr>
              <a:defRPr sz="2100" b="1">
                <a:solidFill>
                  <a:srgbClr val="22324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2324B"/>
                </a:solidFill>
                <a:latin typeface="DejaVu Sans"/>
                <a:ea typeface="DejaVu Sans"/>
                <a:cs typeface="DejaVu Sans"/>
              </a:rPr>
              <a:t>Next: confirm MySQL locally, push GitHub and rehearse the demo.</a:t>
            </a:r>
          </a:p>
        </p:txBody>
      </p:sp>
    </p:spTree>
    <p:extLst>
      <p:ext uri="{BB962C8B-B14F-4D97-AF65-F5344CB8AC3E}">
        <p14:creationId xmlns:p14="http://schemas.microsoft.com/office/powerpoint/2010/main" val="936531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2026-10-11T15:02:43.3050000Z</dcterms:created>
  <dcterms:modified xsi:type="dcterms:W3CDTF">2026-10-11T15:02:43.3050000Z</dcterms:modified>
</coreProperties>
</file>